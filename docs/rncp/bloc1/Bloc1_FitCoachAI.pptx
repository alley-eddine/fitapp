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Trebuchet MS"/>
              </a:rPr>
              <a:t>RNCP 39583 — EXPERT EN DÉVELOPPEMENT LOGICIEL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8FAFC"/>
                </a:solidFill>
                <a:latin typeface="Trebuchet MS"/>
              </a:rPr>
              <a:t>FitCoach </a:t>
            </a:r>
            <a:r>
              <a:rPr sz="6000" b="1">
                <a:solidFill>
                  <a:srgbClr val="22D3EE"/>
                </a:solidFill>
                <a:latin typeface="Trebuchet MS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8FAFC"/>
                </a:solidFill>
                <a:latin typeface="Trebuchet MS"/>
              </a:rPr>
              <a:t>Cadrer un projet de développement d'applications logicielles — Bloc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Plateforme de coaching sportif : transmission coach ↔ élève, tracée et sans saisie.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Commanditaire : </a:t>
            </a:r>
            <a:r>
              <a:rPr sz="1400" b="1">
                <a:solidFill>
                  <a:srgbClr val="F8FAFC"/>
                </a:solidFill>
                <a:latin typeface="Calibri"/>
              </a:rPr>
              <a:t>Markus, coach sportif privé</a:t>
            </a:r>
            <a:r>
              <a:rPr sz="1400" b="0">
                <a:solidFill>
                  <a:srgbClr val="94A3B8"/>
                </a:solidFill>
                <a:latin typeface="Calibri"/>
              </a:rPr>
              <a:t>    ·    Candidat : Alley Eddine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1206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01  </a:t>
            </a:r>
            <a:r>
              <a:rPr sz="1500" b="0">
                <a:solidFill>
                  <a:srgbClr val="F8FAFC"/>
                </a:solidFill>
                <a:latin typeface="Calibri"/>
              </a:rPr>
              <a:t>Cartographie des parties prenantes — C1.1.1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02  </a:t>
            </a:r>
            <a:r>
              <a:rPr sz="1500" b="0">
                <a:solidFill>
                  <a:srgbClr val="F8FAFC"/>
                </a:solidFill>
                <a:latin typeface="Calibri"/>
              </a:rPr>
              <a:t>Analyse de la demande — C1.1.2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03  </a:t>
            </a:r>
            <a:r>
              <a:rPr sz="1500" b="0">
                <a:solidFill>
                  <a:srgbClr val="F8FAFC"/>
                </a:solidFill>
                <a:latin typeface="Calibri"/>
              </a:rPr>
              <a:t>SWOT &amp; concurrence — C1.2.1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04  </a:t>
            </a:r>
            <a:r>
              <a:rPr sz="1500" b="0">
                <a:solidFill>
                  <a:srgbClr val="F8FAFC"/>
                </a:solidFill>
                <a:latin typeface="Calibri"/>
              </a:rPr>
              <a:t>Faisabilité &amp; audit de l'existant — C1.2.2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05  </a:t>
            </a:r>
            <a:r>
              <a:rPr sz="1500" b="0">
                <a:solidFill>
                  <a:srgbClr val="F8FAFC"/>
                </a:solidFill>
                <a:latin typeface="Calibri"/>
              </a:rPr>
              <a:t>Cartographie des risques — C1.2.3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06  </a:t>
            </a:r>
            <a:r>
              <a:rPr sz="1500" b="0">
                <a:solidFill>
                  <a:srgbClr val="F8FAFC"/>
                </a:solidFill>
                <a:latin typeface="Calibri"/>
              </a:rPr>
              <a:t>Veille technique &amp; réglementaire — C1.3.1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1206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07  </a:t>
            </a:r>
            <a:r>
              <a:rPr sz="1500" b="0">
                <a:solidFill>
                  <a:srgbClr val="F8FAFC"/>
                </a:solidFill>
                <a:latin typeface="Calibri"/>
              </a:rPr>
              <a:t>Architecture technique (comparatif) — C1.3.2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08  </a:t>
            </a:r>
            <a:r>
              <a:rPr sz="1500" b="0">
                <a:solidFill>
                  <a:srgbClr val="F8FAFC"/>
                </a:solidFill>
                <a:latin typeface="Calibri"/>
              </a:rPr>
              <a:t>Arbitrages techniques — C1.3.2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09  </a:t>
            </a:r>
            <a:r>
              <a:rPr sz="1500" b="0">
                <a:solidFill>
                  <a:srgbClr val="F8FAFC"/>
                </a:solidFill>
                <a:latin typeface="Calibri"/>
              </a:rPr>
              <a:t>Charge de travail — C1.4.1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10  </a:t>
            </a:r>
            <a:r>
              <a:rPr sz="1500" b="0">
                <a:solidFill>
                  <a:srgbClr val="F8FAFC"/>
                </a:solidFill>
                <a:latin typeface="Calibri"/>
              </a:rPr>
              <a:t>Coût &amp; budget — C1.4.2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11  </a:t>
            </a:r>
            <a:r>
              <a:rPr sz="1500" b="0">
                <a:solidFill>
                  <a:srgbClr val="F8FAFC"/>
                </a:solidFill>
                <a:latin typeface="Calibri"/>
              </a:rPr>
              <a:t>Modélisation de l'architecture — C1.5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22D3EE"/>
                </a:solidFill>
                <a:latin typeface="Trebuchet MS"/>
              </a:rPr>
              <a:t>12  </a:t>
            </a:r>
            <a:r>
              <a:rPr sz="1500" b="0">
                <a:solidFill>
                  <a:srgbClr val="F8FAFC"/>
                </a:solidFill>
                <a:latin typeface="Calibri"/>
              </a:rPr>
              <a:t>Décisions &amp; axes de solutions — C1.6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C1.1.1 — CARTOGRAPHIE DES PARTIES PRENANTES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Les acteurs du projet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58" cy="4535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5744"/>
                <a:gridCol w="4637956"/>
                <a:gridCol w="1783829"/>
                <a:gridCol w="1783829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Acteur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Rôle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Implication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Canal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Markus — commanditaire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Décideur · expert métier · futur client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Entretiens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Développeur (moi)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Conception &amp; développement complet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Permanente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Coach (rôle app)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Crée programmes/nutrition, suit ses élèves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Quotidienne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Desktop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Élève (rôle app)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Exécute séances pré-réglées, renseigne son suivi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Quotidienne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PWA mobile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Utilisateur lambda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Self-tracking sans coach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PWA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DPO / conformité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RGPD — données de santé (poids, mensurations)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Ponctuelle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Audits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Hébergeur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Disponibilité de la plateforme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Continue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Infra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Supports : </a:t>
            </a:r>
            <a:r>
              <a:rPr sz="1200" b="0">
                <a:solidFill>
                  <a:srgbClr val="94A3B8"/>
                </a:solidFill>
                <a:latin typeface="Calibri"/>
              </a:rPr>
              <a:t>Coach → desktop (vue d'ensemble) · Élève → mobile (séance du jour) · Lambda → PWA standard.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C1.1.2 — ANALYSE DE LA DEMANDE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Du suivi WhatsApp à une plateforme tracée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Existant : </a:t>
            </a:r>
            <a:r>
              <a:rPr sz="1400" b="0">
                <a:solidFill>
                  <a:srgbClr val="F8FAFC"/>
                </a:solidFill>
                <a:latin typeface="Calibri"/>
              </a:rPr>
              <a:t>Markus me coache depuis ~1,5 mois — programmes &amp; repas envoyés par email (PDF), suivi sur WhatsApp.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41448"/>
            <a:ext cx="4974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Trebuchet MS"/>
              </a:rPr>
              <a:t>Besoins identifiés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34640"/>
            <a:ext cx="497433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Centraliser la transmission (fini les PDF par mail)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Structurer et tracer le suivi (WhatsApp = pas d'historique)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Élève : ne rien régler — séance &amp; repas déjà prêts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Remontée automatique des données au coach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3172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441448"/>
            <a:ext cx="4974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34D399"/>
                </a:solidFill>
                <a:latin typeface="Trebuchet MS"/>
              </a:rPr>
              <a:t>Pistes de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834640"/>
            <a:ext cx="497433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4D399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Programmes versionnés par phase, assignés à l'élève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4D399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Séances pré-réglées · repas imposés + variété par 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4D399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Notifications push contextuelles « voix du coach 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4D399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Suivi poids / mensurations en graphiques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Problématique : </a:t>
            </a:r>
            <a:r>
              <a:rPr sz="1500" b="0">
                <a:solidFill>
                  <a:srgbClr val="F8FAFC"/>
                </a:solidFill>
                <a:latin typeface="Calibri"/>
              </a:rPr>
              <a:t>comment centraliser et tracer la transmission coach ↔ élève, en supprimant l'éparpillement email / WhatsApp, pour un suivi fiable et un minimum de saisie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C1.2.1 — ANALYSE SWOT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Forces, faiblesses, opportunités, menaces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492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34D399"/>
                </a:solidFill>
                <a:latin typeface="Trebuchet MS"/>
              </a:rPr>
              <a:t>Forces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40280"/>
            <a:ext cx="502005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4D399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Besoin réel validé par mon propre coach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4D399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Full-stack + DevOps (microservices, observabilité)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4D399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Différenciation : nutrition cadrée + IA, zéro-config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492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847088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BBF24"/>
                </a:solidFill>
                <a:latin typeface="Trebuchet MS"/>
              </a:rPr>
              <a:t>Faiblesses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240280"/>
            <a:ext cx="502005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Ressource unique (dev solo — bus factor)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Périmètre large (entraînement + nutrition + paiement)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Adoption élèves à prouver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77639"/>
            <a:ext cx="53492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087367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Trebuchet MS"/>
              </a:rPr>
              <a:t>Opportunités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80559"/>
            <a:ext cx="502005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Coachs indépendants bricolent (email/WhatsApp/PDF)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Modèle B2B2C : abonnement coach (récurrent)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Extension multi-coachs / communauté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34924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4087367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87171"/>
                </a:solidFill>
                <a:latin typeface="Trebuchet MS"/>
              </a:rPr>
              <a:t>Menaces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480559"/>
            <a:ext cx="502005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7171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Données de santé sensibles → RGPD / cyber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7171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Concurrents établis (Trainerize, TrueCoach)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7171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Délais (solo + certification)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Impact environnemental : </a:t>
            </a:r>
            <a:r>
              <a:rPr sz="1200" b="0">
                <a:solidFill>
                  <a:srgbClr val="94A3B8"/>
                </a:solidFill>
                <a:latin typeface="Calibri"/>
              </a:rPr>
              <a:t>conteneurs scalés à la demande, hébergeur éco-responsable visé.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C1.2.1 — CONCURRENCE &amp; POSITIONNEMENT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Un marché servi… mais pas pour ce coach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49240" cy="3108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94A3B8"/>
                </a:solidFill>
                <a:latin typeface="Trebuchet MS"/>
              </a:rPr>
              <a:t>La concurrence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40280"/>
            <a:ext cx="50200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Trainerize / TrueCoach : coach-élève complet, mais US, cher, nutrition générique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MyFitnessPal / Freeletics : grand public, sans relation coach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La réalité de Markus : email + WhatsApp + PDF → zéro structure, zéro traçabilité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49240" cy="3108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847088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Trebuchet MS"/>
              </a:rPr>
              <a:t>Mes différenciateurs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240280"/>
            <a:ext cx="50200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Séance zéro-config : tout est déjà réglé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Nutrition imposée par le coach + variété par 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Remontée automatique des données au coach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Notifications « voix du coach » contextuelles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Phases qui matérialisent le suivi dans le temps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Positionnement : </a:t>
            </a:r>
            <a:r>
              <a:rPr sz="1500" b="0">
                <a:solidFill>
                  <a:srgbClr val="F8FAFC"/>
                </a:solidFill>
                <a:latin typeface="Calibri"/>
              </a:rPr>
              <a:t>non pas un tracker fitness de plus, mais l'outil de transmission et de suivi du coach indépendant — pensé France et zéro friction.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C1.2.2 — FAISABILITÉ &amp; AUDIT DE L'EXISTANT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Verdict : faisable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4924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BBF24"/>
                </a:solidFill>
                <a:latin typeface="Trebuchet MS"/>
              </a:rPr>
              <a:t>Audit de l'existant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40280"/>
            <a:ext cx="502005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Email + PDF : info dispersée, pas de remontée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WhatsApp : suivi non structuré, pas de preuve d'adhérence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Outils marché : self-service sans coach, ou US lourds/chers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→ Aucun ne couvre transmission tracée + zéro-config + nutrition 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4924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847088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Trebuchet MS"/>
              </a:rPr>
              <a:t>Stack 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240280"/>
            <a:ext cx="502005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Front : Next.js 15 en PWA (installable, web-push)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Back : 5 microservices Fastify (TypeScript)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Data : PostgreSQL · Auth : JWT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Stripe · Groq · Resend / Twilio / web-push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Docker · Prometheus + Grafana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Calibri"/>
              </a:rPr>
              <a:t>✅ Verdict : </a:t>
            </a:r>
            <a:r>
              <a:rPr sz="1500" b="0">
                <a:solidFill>
                  <a:srgbClr val="F8FAFC"/>
                </a:solidFill>
                <a:latin typeface="Calibri"/>
              </a:rPr>
              <a:t>faisable — stack maîtrisée, MVP cadré, socle déjà amorcé. Contraintes : solo, données de santé (RGPD), multi-rôles, fluidité.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C1.2.3 — CARTOGRAPHIE DES RISQUES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Criticité = probabilité × impact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59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3329"/>
                <a:gridCol w="1384900"/>
                <a:gridCol w="613313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Risque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Crit.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Plan d'action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Fuite de données de santé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87171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JWT, clé interne, Zod, TLS, minimisation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Indisponibilité d'un service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87171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Découplage, health checks, monitoring + alertes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Retard de livraison (solo)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BBF24"/>
                          </a:solidFill>
                          <a:latin typeface="Calibri"/>
                        </a:rPr>
                        <a:t>Majeur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MVP priorisé, Kanban, jalons RNCP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Perte de données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BBF24"/>
                          </a:solidFill>
                          <a:latin typeface="Calibri"/>
                        </a:rPr>
                        <a:t>Majeur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Backups PostgreSQL, migrations idempotentes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Non-conformité RGPD (santé)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BBF24"/>
                          </a:solidFill>
                          <a:latin typeface="Calibri"/>
                        </a:rPr>
                        <a:t>Majeur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RGPD by design, minimisation, durée limitée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Adoption faible des élèves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4D399"/>
                          </a:solidFill>
                          <a:latin typeface="Calibri"/>
                        </a:rPr>
                        <a:t>Modéré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UX zéro-config, notifications « voix du coach »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Indicateurs de contrôle : </a:t>
            </a:r>
            <a:r>
              <a:rPr sz="1200" b="0">
                <a:solidFill>
                  <a:srgbClr val="94A3B8"/>
                </a:solidFill>
                <a:latin typeface="Calibri"/>
              </a:rPr>
              <a:t>uptime par service · taux d'erreur · couverture de tests · latence — via Prometheus / Grafana.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C1.3.1 — VEILLE TECHNIQUE &amp; RÉGLEMENTAIRE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Anticiper failles &amp; conformité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4924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Trebuchet MS"/>
              </a:rPr>
              <a:t>Veille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40280"/>
            <a:ext cx="502005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Next.js / Fastify : releases &amp; changelogs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Node / npm : security advisories · Dependabot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OWASP : Top 10, bonnes pratiques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Stripe / Groq : changelogs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34924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847088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34D399"/>
                </a:solidFill>
                <a:latin typeface="Trebuchet MS"/>
              </a:rPr>
              <a:t>Veille réglementaire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240280"/>
            <a:ext cx="502005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4D399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CNIL : RGPD, données de santé (catégorie particulière)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4D399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ANSSI : sécurité des systèmes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Calibri"/>
              </a:rPr>
              <a:t>Outils : </a:t>
            </a:r>
            <a:r>
              <a:rPr sz="1400" b="0">
                <a:solidFill>
                  <a:srgbClr val="F8FAFC"/>
                </a:solidFill>
                <a:latin typeface="Calibri"/>
              </a:rPr>
              <a:t>Feedly · GitHub Watch · Dependabot · Google Alerts.   </a:t>
            </a:r>
            <a:r>
              <a:rPr sz="1400" b="1">
                <a:solidFill>
                  <a:srgbClr val="22D3EE"/>
                </a:solidFill>
                <a:latin typeface="Calibri"/>
              </a:rPr>
              <a:t>Fréquences : </a:t>
            </a:r>
            <a:r>
              <a:rPr sz="1400" b="0">
                <a:solidFill>
                  <a:srgbClr val="F8FAFC"/>
                </a:solidFill>
                <a:latin typeface="Calibri"/>
              </a:rPr>
              <a:t>deps → hebdo · CNIL/ANSSI → mensuel.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C1.3.2 — ÉTUDE COMPARATIVE (COMPÉTENCE ÉLIMINATOIRE)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Choix : microservices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58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36968"/>
                <a:gridCol w="2842877"/>
                <a:gridCol w="1960605"/>
                <a:gridCol w="2940908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Critère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BaaS (Supabase)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Monolithe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Microservices ✓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Maîtrise &amp; sécurité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Moyen (boîte noire)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Élevé (isolation)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Séparation des responsabilités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Moyen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Excellente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Scalabilité indépendante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Limitée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Excellente (IA)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Résilience (panne isolée)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Bonne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Démonstration niveau Expert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Moyen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Forte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Complexité opérationnelle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BBF24"/>
                          </a:solidFill>
                          <a:latin typeface="Calibri"/>
                        </a:rPr>
                        <a:t>Élevée → observabilité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44068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Retenu : </a:t>
            </a:r>
            <a:r>
              <a:rPr sz="1300" b="0">
                <a:solidFill>
                  <a:srgbClr val="F8FAFC"/>
                </a:solidFill>
                <a:latin typeface="Calibri"/>
              </a:rPr>
              <a:t>auth / paiement / IA / notifications ont des profils de sécurité et de scaling distincts → déploiement &amp; scaling indépendants, isolation des pannes, maîtrise du distribué (niveau Expert). Couplage maîtrisé (JWT + clé interne), complexité compensée par l'observabilité.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C1.3.2 — ARBITRAGES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Retenu vs écarté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58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4144"/>
                <a:gridCol w="1876096"/>
                <a:gridCol w="6191118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Option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Décision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Justification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Microservices Fastify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✅ RETENU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Domaines hétérogènes, scaling/sécurité indépendants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Next.js 15 en PWA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✅ RETENU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1 codebase installable (coach desktop + élève mobile), web-push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PostgreSQL + SQL direct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✅ RETENU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Maîtrise des requêtes, perf, démontre la compétence BDD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JWT + clé interne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✅ RETENU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Auth maîtrisée + isolation des appels internes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Zod partagé front/back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4D399"/>
                          </a:solidFill>
                          <a:latin typeface="Calibri"/>
                        </a:rPr>
                        <a:t>✅ RETENU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Une seule source de validation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BaaS (Supabase)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7171"/>
                          </a:solidFill>
                          <a:latin typeface="Calibri"/>
                        </a:rPr>
                        <a:t>❌ ÉCARTÉ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Sécurité en boîte noire, faible démonstration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App native (2 apps)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7171"/>
                          </a:solidFill>
                          <a:latin typeface="Calibri"/>
                        </a:rPr>
                        <a:t>❌ ÉCARTÉ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8FAFC"/>
                          </a:solidFill>
                          <a:latin typeface="Calibri"/>
                        </a:rPr>
                        <a:t>PWA couvre offline/push sans double maintenance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C1.4.1 — CHARGE DE TRAVAIL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Estimation en jours-homme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7680960" cy="4224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20840"/>
                <a:gridCol w="96012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Phase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8FAFC"/>
                          </a:solidFill>
                          <a:latin typeface="Trebuchet MS"/>
                        </a:rPr>
                        <a:t>j/h</a:t>
                      </a:r>
                    </a:p>
                  </a:txBody>
                  <a:tcPr marL="76200" marR="76200" marT="38100" marB="38100" anchor="ctr">
                    <a:solidFill>
                      <a:srgbClr val="0E74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Cadrage &amp; architecture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Auth &amp; rôles (coach/élève/lambda)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Service API métier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Service IA (nutrition cadrée)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Service Paiement (Stripe)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Service Notifications (mail/SMS/push)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Front Next.js PWA (3 rôles)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Tests &amp; CI/CD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Monitoring &amp; déploiement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Documentation &amp; recette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8FAF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27344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0" y="1737360"/>
            <a:ext cx="2834640" cy="1554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874519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4A3B8"/>
                </a:solidFill>
                <a:latin typeface="Trebuchet MS"/>
              </a:rP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24028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2D3EE"/>
                </a:solidFill>
                <a:latin typeface="Trebuchet MS"/>
              </a:rPr>
              <a:t>≈ 73 j/h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97180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≈ 14-15 semaines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566160"/>
            <a:ext cx="28346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3675888"/>
            <a:ext cx="2505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Trebuchet MS"/>
              </a:rPr>
              <a:t>Hiérarchie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4069080"/>
            <a:ext cx="250545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Principales : auth, programmes, séance, suivi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Secondaires : nutrition IA, paiement, notifs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Complémentaires : graphiques, communauté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C1.4.2 — COÛT &amp;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Coûts réels vs valeur marché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4924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50200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Trebuchet MS"/>
              </a:rPr>
              <a:t>Coûts directs (solo)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5020056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Hébergement (~5 mois) : ~150 €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Domaine + SSL : ~20 €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APIs (Stripe test, Twilio, Resend, Groq) : ~80 €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2D3EE"/>
                </a:solidFill>
                <a:latin typeface="Calibri"/>
              </a:rPr>
              <a:t>• </a:t>
            </a:r>
            <a:r>
              <a:rPr sz="1200" b="0">
                <a:solidFill>
                  <a:srgbClr val="F8FAFC"/>
                </a:solidFill>
                <a:latin typeface="Calibri"/>
              </a:rPr>
              <a:t>Outils &amp; monitoring : ~30 €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202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Trebuchet MS"/>
              </a:rPr>
              <a:t>VALEUR MARCHÉ (RÉFÉRENCE)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77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Dev senior 500 €/j × 73 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34D399"/>
                </a:solidFill>
                <a:latin typeface="Trebuchet MS"/>
              </a:rPr>
              <a:t>≈ 37 000 €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84048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+ infra/services annuels ~600 €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37760"/>
            <a:ext cx="5349240" cy="1005840"/>
          </a:xfrm>
          <a:prstGeom prst="roundRect">
            <a:avLst/>
          </a:prstGeom>
          <a:solidFill>
            <a:srgbClr val="27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Calibri"/>
              </a:rPr>
              <a:t>Total coûts directs ≈ </a:t>
            </a:r>
            <a:r>
              <a:rPr sz="2200" b="1">
                <a:solidFill>
                  <a:srgbClr val="22D3EE"/>
                </a:solidFill>
                <a:latin typeface="Trebuchet MS"/>
              </a:rPr>
              <a:t>280 €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029200"/>
            <a:ext cx="5349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L'écart coût réel / valeur illustre le ROI pour un coach qui s'abonne plutôt que de faire développer.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Trebuchet MS"/>
              </a:rPr>
              <a:t>C1.5 — MODÉLISATION DE L'ARCHITECTURE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UML composants + ERD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91640"/>
            <a:ext cx="5029200" cy="73152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91640"/>
            <a:ext cx="5029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Trebuchet MS"/>
              </a:rPr>
              <a:t>Front Next.js 15 — PWA  (coach · élève · lambda)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20116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2011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Trebuchet MS"/>
              </a:rPr>
              <a:t>auth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Trebuchet MS"/>
              </a:rPr>
              <a:t>3001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834640"/>
            <a:ext cx="20116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834640"/>
            <a:ext cx="2011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Trebuchet MS"/>
              </a:rPr>
              <a:t>api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Trebuchet MS"/>
              </a:rPr>
              <a:t>3002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834640"/>
            <a:ext cx="20116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834640"/>
            <a:ext cx="2011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Trebuchet MS"/>
              </a:rPr>
              <a:t>ai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Trebuchet MS"/>
              </a:rPr>
              <a:t>3003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2834640"/>
            <a:ext cx="20116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834640"/>
            <a:ext cx="2011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Trebuchet MS"/>
              </a:rPr>
              <a:t>notifications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Trebuchet MS"/>
              </a:rPr>
              <a:t>3004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834640"/>
            <a:ext cx="2011680" cy="868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834640"/>
            <a:ext cx="2011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Trebuchet MS"/>
              </a:rPr>
              <a:t>payment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Trebuchet MS"/>
              </a:rPr>
              <a:t>3005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114800"/>
            <a:ext cx="2926080" cy="731520"/>
          </a:xfrm>
          <a:prstGeom prst="roundRect">
            <a:avLst/>
          </a:prstGeom>
          <a:solidFill>
            <a:srgbClr val="27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411480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FAFC"/>
                </a:solidFill>
                <a:latin typeface="Trebuchet MS"/>
              </a:rPr>
              <a:t>PostgreSQL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114800"/>
            <a:ext cx="2926080" cy="731520"/>
          </a:xfrm>
          <a:prstGeom prst="roundRect">
            <a:avLst/>
          </a:prstGeom>
          <a:solidFill>
            <a:srgbClr val="27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8FAFC"/>
                </a:solidFill>
                <a:latin typeface="Trebuchet MS"/>
              </a:rPr>
              <a:t>Prometheus + Grafana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Entités clés : </a:t>
            </a:r>
            <a:r>
              <a:rPr sz="1300" b="0">
                <a:solidFill>
                  <a:srgbClr val="F8FAFC"/>
                </a:solidFill>
                <a:latin typeface="Calibri"/>
              </a:rPr>
              <a:t>users (role) · coach_students · profiles · measurements · training_programs (phases) · program_assignments · workouts/exercises · nutrition_plans · recipes · notification_logs.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Formalisme : </a:t>
            </a:r>
            <a:r>
              <a:rPr sz="1300" b="0">
                <a:solidFill>
                  <a:srgbClr val="94A3B8"/>
                </a:solidFill>
                <a:latin typeface="Calibri"/>
              </a:rPr>
              <a:t>UML (composants) + ERD (données).   Sécurisé (JWT + clé interne + Zod), observable, évolutif.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Trebuchet MS"/>
              </a:rPr>
              <a:t>C1.6 — DÉCISIONS &amp; AXES DE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F8FAFC"/>
                </a:solidFill>
                <a:latin typeface="Trebuchet MS"/>
              </a:rPr>
              <a:t>Synthèse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▸  </a:t>
            </a:r>
            <a:r>
              <a:rPr sz="1600" b="0">
                <a:solidFill>
                  <a:srgbClr val="F8FAFC"/>
                </a:solidFill>
                <a:latin typeface="Calibri"/>
              </a:rPr>
              <a:t>Plateforme coach ↔ élève centralisée, multi-rôles, tracée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▸  </a:t>
            </a:r>
            <a:r>
              <a:rPr sz="1600" b="0">
                <a:solidFill>
                  <a:srgbClr val="F8FAFC"/>
                </a:solidFill>
                <a:latin typeface="Calibri"/>
              </a:rPr>
              <a:t>Séances zéro-config + nutrition imposée par le coach, variée par IA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▸  </a:t>
            </a:r>
            <a:r>
              <a:rPr sz="1600" b="0">
                <a:solidFill>
                  <a:srgbClr val="F8FAFC"/>
                </a:solidFill>
                <a:latin typeface="Calibri"/>
              </a:rPr>
              <a:t>Suivi automatique (poids, mensurations, adhérence) en graphiques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▸  </a:t>
            </a:r>
            <a:r>
              <a:rPr sz="1600" b="0">
                <a:solidFill>
                  <a:srgbClr val="F8FAFC"/>
                </a:solidFill>
                <a:latin typeface="Calibri"/>
              </a:rPr>
              <a:t>Notifications push contextuelles « voix du coach »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▸  </a:t>
            </a:r>
            <a:r>
              <a:rPr sz="1600" b="0">
                <a:solidFill>
                  <a:srgbClr val="F8FAFC"/>
                </a:solidFill>
                <a:latin typeface="Calibri"/>
              </a:rPr>
              <a:t>Microservices + Next.js PWA, sécurité &amp; RGPD by design, observabilité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▸  </a:t>
            </a:r>
            <a:r>
              <a:rPr sz="1600" b="0">
                <a:solidFill>
                  <a:srgbClr val="F8FAFC"/>
                </a:solidFill>
                <a:latin typeface="Calibri"/>
              </a:rPr>
              <a:t>Modèle B2B2C : abonnement coach + offre self-service (lambda)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74920"/>
            <a:ext cx="103327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25780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alibri"/>
              </a:rPr>
              <a:t>Pour Markus : </a:t>
            </a:r>
            <a:r>
              <a:rPr sz="1500" b="0">
                <a:solidFill>
                  <a:srgbClr val="F8FAFC"/>
                </a:solidFill>
                <a:latin typeface="Calibri"/>
              </a:rPr>
              <a:t>« Tes élèves ouvrent l'app, tout est déjà réglé, et toi tu vois leur progression en temps réel — sans une minute de saisie en plus.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